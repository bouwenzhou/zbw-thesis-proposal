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78" r:id="rId3"/>
    <p:sldId id="279" r:id="rId11"/>
    <p:sldId id="280" r:id="rId10"/>
    <p:sldId id="281" r:id="rId9"/>
    <p:sldId id="282" r:id="rId8"/>
    <p:sldId id="283" r:id="rId7"/>
    <p:sldId id="284" r:id="rId6"/>
    <p:sldId id="285" r:id="rId5"/>
    <p:sldId id="286" r:id="rId23"/>
    <p:sldId id="287" r:id="rId24"/>
    <p:sldId id="288" r:id="rId25"/>
    <p:sldId id="289" r:id="rId26"/>
    <p:sldId id="290" r:id="rId27"/>
  </p:sldIdLst>
  <p:sldSz cx="12192000" cy="6858000"/>
  <p:notesSz cx="6858000" cy="9144000"/>
  <p:embeddedFontLst>
    <p:embeddedFont>
      <p:font typeface="方正小标宋简体" panose="02000000000000000000" charset="-122"/>
      <p:regular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1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87A7"/>
    <a:srgbClr val="F3E8FF"/>
    <a:srgbClr val="E9ABE6"/>
    <a:srgbClr val="C0DC7A"/>
    <a:srgbClr val="A8E584"/>
    <a:srgbClr val="E1B5E1"/>
    <a:srgbClr val="685EB0"/>
    <a:srgbClr val="D47581"/>
    <a:srgbClr val="B48EB9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87978"/>
  </p:normalViewPr>
  <p:slideViewPr>
    <p:cSldViewPr snapToGrid="0" showGuides="1">
      <p:cViewPr varScale="1">
        <p:scale>
          <a:sx n="99" d="100"/>
          <a:sy n="99" d="100"/>
        </p:scale>
        <p:origin x="176" y="448"/>
      </p:cViewPr>
      <p:guideLst>
        <p:guide orient="horz" pos="1971"/>
        <p:guide pos="37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tags" Target="tags/tag61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平均得分 (%)</c:v>
                </c:pt>
              </c:strCache>
            </c:strRef>
          </c:tx>
          <c:dPt>
            <c:idx val="0"/>
            <c:spPr>
              <a:solidFill>
                <a:srgbClr val="B9A3C6"/>
              </a:solidFill>
            </c:spPr>
          </c:dPt>
          <c:dPt>
            <c:idx val="1"/>
            <c:spPr>
              <a:solidFill>
                <a:srgbClr val="B9A3C6"/>
              </a:solidFill>
            </c:spPr>
          </c:dPt>
          <c:dPt>
            <c:idx val="2"/>
            <c:spPr>
              <a:solidFill>
                <a:srgbClr val="B9A3C6"/>
              </a:solidFill>
            </c:spPr>
          </c:dPt>
          <c:dPt>
            <c:idx val="3"/>
            <c:spPr>
              <a:solidFill>
                <a:srgbClr val="B9A3C6"/>
              </a:solidFill>
            </c:spPr>
          </c:dPt>
          <c:dPt>
            <c:idx val="4"/>
            <c:spPr>
              <a:solidFill>
                <a:srgbClr val="B9A3C6"/>
              </a:solidFill>
            </c:spPr>
          </c:dPt>
          <c:dPt>
            <c:idx val="5"/>
            <c:spPr>
              <a:solidFill>
                <a:srgbClr val="B9A3C6"/>
              </a:solidFill>
            </c:spPr>
          </c:dPt>
          <c:dPt>
            <c:idx val="6"/>
            <c:spPr>
              <a:solidFill>
                <a:srgbClr val="B9A3C6"/>
              </a:solidFill>
            </c:spPr>
          </c:dPt>
          <c:dPt>
            <c:idx val="7"/>
            <c:spPr>
              <a:solidFill>
                <a:srgbClr val="B9A3C6"/>
              </a:solidFill>
            </c:spPr>
          </c:dPt>
          <c:dPt>
            <c:idx val="8"/>
            <c:spPr>
              <a:solidFill>
                <a:srgbClr val="B9A3C6"/>
              </a:solidFill>
            </c:spPr>
          </c:dPt>
          <c:dPt>
            <c:idx val="9"/>
            <c:spPr>
              <a:solidFill>
                <a:srgbClr val="660874"/>
              </a:solidFill>
            </c:spPr>
          </c:dPt>
          <c:cat>
            <c:strRef>
              <c:f>Sheet1!$A$2:$A$11</c:f>
              <c:strCache>
                <c:ptCount val="10"/>
                <c:pt idx="0">
                  <c:v>Qwen3.7-Plus</c:v>
                </c:pt>
                <c:pt idx="1">
                  <c:v>Gemini 3.7 Flash</c:v>
                </c:pt>
                <c:pt idx="2">
                  <c:v>GLM-5.3</c:v>
                </c:pt>
                <c:pt idx="3">
                  <c:v>Claude Opus 4.8</c:v>
                </c:pt>
                <c:pt idx="4">
                  <c:v>Kimi K3</c:v>
                </c:pt>
                <c:pt idx="5">
                  <c:v>Qwen3.8-Max</c:v>
                </c:pt>
                <c:pt idx="6">
                  <c:v>Grok 4.6</c:v>
                </c:pt>
                <c:pt idx="7">
                  <c:v>GPT-5.6 Sol</c:v>
                </c:pt>
                <c:pt idx="8">
                  <c:v>Claude Opus 5</c:v>
                </c:pt>
                <c:pt idx="9">
                  <c:v>GPT-6 Astra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9.15</c:v>
                </c:pt>
                <c:pt idx="1">
                  <c:v>21.12</c:v>
                </c:pt>
                <c:pt idx="2">
                  <c:v>24.38</c:v>
                </c:pt>
                <c:pt idx="3">
                  <c:v>31.1</c:v>
                </c:pt>
                <c:pt idx="4">
                  <c:v>31.41</c:v>
                </c:pt>
                <c:pt idx="5">
                  <c:v>34.8</c:v>
                </c:pt>
                <c:pt idx="6">
                  <c:v>36.73</c:v>
                </c:pt>
                <c:pt idx="7">
                  <c:v>42.06</c:v>
                </c:pt>
                <c:pt idx="8">
                  <c:v>44.16</c:v>
                </c:pt>
                <c:pt idx="9">
                  <c:v>58.06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首个检查点</c:v>
                </c:pt>
              </c:strCache>
            </c:strRef>
          </c:tx>
          <c:spPr>
            <a:solidFill>
              <a:srgbClr val="C9B6D3"/>
            </a:solidFill>
          </c:spPr>
          <c:cat>
            <c:strRef>
              <c:f>Sheet1!$A$2:$A$4</c:f>
              <c:strCache>
                <c:ptCount val="3"/>
                <c:pt idx="0">
                  <c:v>代码验证</c:v>
                </c:pt>
                <c:pt idx="1">
                  <c:v>图像检查</c:v>
                </c:pt>
                <c:pt idx="2">
                  <c:v>GUI 操作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6.8</c:v>
                </c:pt>
                <c:pt idx="2">
                  <c:v>20.9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最终检查点</c:v>
                </c:pt>
              </c:strCache>
            </c:strRef>
          </c:tx>
          <c:spPr>
            <a:solidFill>
              <a:srgbClr val="660874"/>
            </a:solidFill>
          </c:spPr>
          <c:cat>
            <c:strRef>
              <c:f>Sheet1!$A$2:$A$4</c:f>
              <c:strCache>
                <c:ptCount val="3"/>
                <c:pt idx="0">
                  <c:v>代码验证</c:v>
                </c:pt>
                <c:pt idx="1">
                  <c:v>图像检查</c:v>
                </c:pt>
                <c:pt idx="2">
                  <c:v>GUI 操作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24.0</c:v>
                </c:pt>
                <c:pt idx="1">
                  <c:v>10.1</c:v>
                </c:pt>
                <c:pt idx="2">
                  <c:v>31.8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3" Type="http://schemas.openxmlformats.org/officeDocument/2006/relationships/image" Target="../media/image2.jpeg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image" Target="../media/image3.png"/><Relationship Id="rId12" Type="http://schemas.microsoft.com/office/2007/relationships/hdphoto" Target="../media/image4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image" Target="../media/image5.png"/><Relationship Id="rId6" Type="http://schemas.microsoft.com/office/2007/relationships/hdphoto" Target="../media/image6.wdp"/><Relationship Id="rId7" Type="http://schemas.openxmlformats.org/officeDocument/2006/relationships/tags" Target="../tags/tag14.xml"/><Relationship Id="rId8" Type="http://schemas.openxmlformats.org/officeDocument/2006/relationships/image" Target="../media/image7.png"/><Relationship Id="rId9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image9.wdp"/><Relationship Id="rId4" Type="http://schemas.openxmlformats.org/officeDocument/2006/relationships/image" Target="../media/image10.png"/><Relationship Id="rId5" Type="http://schemas.microsoft.com/office/2007/relationships/hdphoto" Target="../media/image11.wdp"/><Relationship Id="rId6" Type="http://schemas.openxmlformats.org/officeDocument/2006/relationships/image" Target="../media/image1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清华大学模板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灯片编号占位符 5"/>
          <p:cNvSpPr>
            <a:spLocks noGrp="1"/>
          </p:cNvSpPr>
          <p:nvPr userDrawn="1">
            <p:custDataLst>
              <p:tags r:id="rId4"/>
            </p:custDataLst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5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8238932" cy="6858000"/>
          </a:xfrm>
          <a:custGeom>
            <a:avLst/>
            <a:gdLst>
              <a:gd name="connsiteX0" fmla="*/ 0 w 7675927"/>
              <a:gd name="connsiteY0" fmla="*/ 0 h 6858000"/>
              <a:gd name="connsiteX1" fmla="*/ 7675927 w 7675927"/>
              <a:gd name="connsiteY1" fmla="*/ 0 h 6858000"/>
              <a:gd name="connsiteX2" fmla="*/ 7675927 w 7675927"/>
              <a:gd name="connsiteY2" fmla="*/ 6858000 h 6858000"/>
              <a:gd name="connsiteX3" fmla="*/ 0 w 7675927"/>
              <a:gd name="connsiteY3" fmla="*/ 6858000 h 6858000"/>
              <a:gd name="connsiteX4" fmla="*/ 0 w 7675927"/>
              <a:gd name="connsiteY4" fmla="*/ 0 h 6858000"/>
              <a:gd name="connsiteX0-1" fmla="*/ 0 w 7675927"/>
              <a:gd name="connsiteY0-2" fmla="*/ 0 h 6858000"/>
              <a:gd name="connsiteX1-3" fmla="*/ 7675927 w 7675927"/>
              <a:gd name="connsiteY1-4" fmla="*/ 0 h 6858000"/>
              <a:gd name="connsiteX2-5" fmla="*/ 7669764 w 7675927"/>
              <a:gd name="connsiteY2-6" fmla="*/ 3433665 h 6858000"/>
              <a:gd name="connsiteX3-7" fmla="*/ 7675927 w 7675927"/>
              <a:gd name="connsiteY3-8" fmla="*/ 6858000 h 6858000"/>
              <a:gd name="connsiteX4-9" fmla="*/ 0 w 7675927"/>
              <a:gd name="connsiteY4-10" fmla="*/ 6858000 h 6858000"/>
              <a:gd name="connsiteX5" fmla="*/ 0 w 7675927"/>
              <a:gd name="connsiteY5" fmla="*/ 0 h 6858000"/>
              <a:gd name="connsiteX0-11" fmla="*/ 0 w 9181326"/>
              <a:gd name="connsiteY0-12" fmla="*/ 0 h 6858000"/>
              <a:gd name="connsiteX1-13" fmla="*/ 7675927 w 9181326"/>
              <a:gd name="connsiteY1-14" fmla="*/ 0 h 6858000"/>
              <a:gd name="connsiteX2-15" fmla="*/ 9181324 w 9181326"/>
              <a:gd name="connsiteY2-16" fmla="*/ 3461657 h 6858000"/>
              <a:gd name="connsiteX3-17" fmla="*/ 7675927 w 9181326"/>
              <a:gd name="connsiteY3-18" fmla="*/ 6858000 h 6858000"/>
              <a:gd name="connsiteX4-19" fmla="*/ 0 w 9181326"/>
              <a:gd name="connsiteY4-20" fmla="*/ 6858000 h 6858000"/>
              <a:gd name="connsiteX5-21" fmla="*/ 0 w 9181326"/>
              <a:gd name="connsiteY5-22" fmla="*/ 0 h 6858000"/>
              <a:gd name="connsiteX0-23" fmla="*/ 0 w 9181328"/>
              <a:gd name="connsiteY0-24" fmla="*/ 0 h 6858000"/>
              <a:gd name="connsiteX1-25" fmla="*/ 7675927 w 9181328"/>
              <a:gd name="connsiteY1-26" fmla="*/ 0 h 6858000"/>
              <a:gd name="connsiteX2-27" fmla="*/ 9181324 w 9181328"/>
              <a:gd name="connsiteY2-28" fmla="*/ 3461657 h 6858000"/>
              <a:gd name="connsiteX3-29" fmla="*/ 7675927 w 9181328"/>
              <a:gd name="connsiteY3-30" fmla="*/ 6858000 h 6858000"/>
              <a:gd name="connsiteX4-31" fmla="*/ 0 w 9181328"/>
              <a:gd name="connsiteY4-32" fmla="*/ 6858000 h 6858000"/>
              <a:gd name="connsiteX5-33" fmla="*/ 0 w 9181328"/>
              <a:gd name="connsiteY5-34" fmla="*/ 0 h 6858000"/>
              <a:gd name="connsiteX0-35" fmla="*/ 0 w 9153337"/>
              <a:gd name="connsiteY0-36" fmla="*/ 0 h 6858000"/>
              <a:gd name="connsiteX1-37" fmla="*/ 7675927 w 9153337"/>
              <a:gd name="connsiteY1-38" fmla="*/ 0 h 6858000"/>
              <a:gd name="connsiteX2-39" fmla="*/ 9153333 w 9153337"/>
              <a:gd name="connsiteY2-40" fmla="*/ 3582955 h 6858000"/>
              <a:gd name="connsiteX3-41" fmla="*/ 7675927 w 9153337"/>
              <a:gd name="connsiteY3-42" fmla="*/ 6858000 h 6858000"/>
              <a:gd name="connsiteX4-43" fmla="*/ 0 w 9153337"/>
              <a:gd name="connsiteY4-44" fmla="*/ 6858000 h 6858000"/>
              <a:gd name="connsiteX5-45" fmla="*/ 0 w 9153337"/>
              <a:gd name="connsiteY5-46" fmla="*/ 0 h 6858000"/>
              <a:gd name="connsiteX0-47" fmla="*/ 0 w 9153339"/>
              <a:gd name="connsiteY0-48" fmla="*/ 0 h 6858000"/>
              <a:gd name="connsiteX1-49" fmla="*/ 7675927 w 9153339"/>
              <a:gd name="connsiteY1-50" fmla="*/ 0 h 6858000"/>
              <a:gd name="connsiteX2-51" fmla="*/ 9153333 w 9153339"/>
              <a:gd name="connsiteY2-52" fmla="*/ 3582955 h 6858000"/>
              <a:gd name="connsiteX3-53" fmla="*/ 7675927 w 9153339"/>
              <a:gd name="connsiteY3-54" fmla="*/ 6858000 h 6858000"/>
              <a:gd name="connsiteX4-55" fmla="*/ 0 w 9153339"/>
              <a:gd name="connsiteY4-56" fmla="*/ 6858000 h 6858000"/>
              <a:gd name="connsiteX5-57" fmla="*/ 0 w 9153339"/>
              <a:gd name="connsiteY5-58" fmla="*/ 0 h 6858000"/>
              <a:gd name="connsiteX0-59" fmla="*/ 0 w 9144008"/>
              <a:gd name="connsiteY0-60" fmla="*/ 0 h 6858000"/>
              <a:gd name="connsiteX1-61" fmla="*/ 7675927 w 9144008"/>
              <a:gd name="connsiteY1-62" fmla="*/ 0 h 6858000"/>
              <a:gd name="connsiteX2-63" fmla="*/ 9144002 w 9144008"/>
              <a:gd name="connsiteY2-64" fmla="*/ 3433665 h 6858000"/>
              <a:gd name="connsiteX3-65" fmla="*/ 7675927 w 9144008"/>
              <a:gd name="connsiteY3-66" fmla="*/ 6858000 h 6858000"/>
              <a:gd name="connsiteX4-67" fmla="*/ 0 w 9144008"/>
              <a:gd name="connsiteY4-68" fmla="*/ 6858000 h 6858000"/>
              <a:gd name="connsiteX5-69" fmla="*/ 0 w 9144008"/>
              <a:gd name="connsiteY5-70" fmla="*/ 0 h 6858000"/>
              <a:gd name="connsiteX0-71" fmla="*/ 0 w 9153339"/>
              <a:gd name="connsiteY0-72" fmla="*/ 0 h 6858000"/>
              <a:gd name="connsiteX1-73" fmla="*/ 7675927 w 9153339"/>
              <a:gd name="connsiteY1-74" fmla="*/ 0 h 6858000"/>
              <a:gd name="connsiteX2-75" fmla="*/ 9153333 w 9153339"/>
              <a:gd name="connsiteY2-76" fmla="*/ 3480318 h 6858000"/>
              <a:gd name="connsiteX3-77" fmla="*/ 7675927 w 9153339"/>
              <a:gd name="connsiteY3-78" fmla="*/ 6858000 h 6858000"/>
              <a:gd name="connsiteX4-79" fmla="*/ 0 w 9153339"/>
              <a:gd name="connsiteY4-80" fmla="*/ 6858000 h 6858000"/>
              <a:gd name="connsiteX5-81" fmla="*/ 0 w 9153339"/>
              <a:gd name="connsiteY5-8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153339" h="6858000">
                <a:moveTo>
                  <a:pt x="0" y="0"/>
                </a:moveTo>
                <a:lnTo>
                  <a:pt x="7675927" y="0"/>
                </a:lnTo>
                <a:cubicBezTo>
                  <a:pt x="8644256" y="1088571"/>
                  <a:pt x="9155387" y="2335763"/>
                  <a:pt x="9153333" y="3480318"/>
                </a:cubicBezTo>
                <a:cubicBezTo>
                  <a:pt x="9155387" y="4621763"/>
                  <a:pt x="8485636" y="6024465"/>
                  <a:pt x="7675927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702F73">
              <a:alpha val="90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7961878" y="3151946"/>
            <a:ext cx="554111" cy="554111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7" y="214603"/>
            <a:ext cx="2528596" cy="88091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>
            <a:grpSpLocks noChangeAspect="1"/>
          </p:cNvGrpSpPr>
          <p:nvPr userDrawn="1"/>
        </p:nvGrpSpPr>
        <p:grpSpPr>
          <a:xfrm>
            <a:off x="9505950" y="336023"/>
            <a:ext cx="2325831" cy="699934"/>
            <a:chOff x="2685028" y="2876682"/>
            <a:chExt cx="5502784" cy="1656004"/>
          </a:xfrm>
        </p:grpSpPr>
        <p:sp>
          <p:nvSpPr>
            <p:cNvPr id="75" name="i$ľïdê"/>
            <p:cNvSpPr/>
            <p:nvPr userDrawn="1">
              <p:custDataLst>
                <p:tags r:id="rId2"/>
              </p:custDataLst>
            </p:nvPr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sp>
          <p:nvSpPr>
            <p:cNvPr id="76" name="îṥlîḋê"/>
            <p:cNvSpPr/>
            <p:nvPr userDrawn="1">
              <p:custDataLst>
                <p:tags r:id="rId3"/>
              </p:custDataLst>
            </p:nvPr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pic>
          <p:nvPicPr>
            <p:cNvPr id="77" name="图片 7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pic>
        <p:nvPicPr>
          <p:cNvPr id="16" name="图片 15" descr="建筑的设计&#10;&#10;描述已自动生成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48" y="3076575"/>
            <a:ext cx="5635327" cy="3781425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9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>
            <a:grpSpLocks noChangeAspect="1"/>
          </p:cNvGrpSpPr>
          <p:nvPr userDrawn="1"/>
        </p:nvGrpSpPr>
        <p:grpSpPr>
          <a:xfrm>
            <a:off x="10386222" y="242117"/>
            <a:ext cx="1561684" cy="469972"/>
            <a:chOff x="2685028" y="2876682"/>
            <a:chExt cx="5502784" cy="1656004"/>
          </a:xfrm>
        </p:grpSpPr>
        <p:sp>
          <p:nvSpPr>
            <p:cNvPr id="24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sp>
          <p:nvSpPr>
            <p:cNvPr id="25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cxnSp>
        <p:nvCxnSpPr>
          <p:cNvPr id="37" name="直接连接符 36"/>
          <p:cNvCxnSpPr/>
          <p:nvPr userDrawn="1"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 userDrawn="1"/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 descr="图片包含 游戏机, 建筑, 标志, 围栏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"/>
            <a:ext cx="860855" cy="608586"/>
          </a:xfrm>
          <a:prstGeom prst="rect">
            <a:avLst/>
          </a:prstGeom>
        </p:spPr>
      </p:pic>
      <p:pic>
        <p:nvPicPr>
          <p:cNvPr id="46" name="图片 45" descr="建筑的摆设布局&#10;&#10;描述已自动生成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2" t="55311"/>
          <a:stretch>
            <a:fillRect/>
          </a:stretch>
        </p:blipFill>
        <p:spPr>
          <a:xfrm>
            <a:off x="9237785" y="6143541"/>
            <a:ext cx="3036277" cy="913752"/>
          </a:xfrm>
          <a:prstGeom prst="rect">
            <a:avLst/>
          </a:prstGeom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2.xml"/><Relationship Id="rId13" Type="http://schemas.openxmlformats.org/officeDocument/2006/relationships/tags" Target="../tags/tag53.xml"/><Relationship Id="rId14" Type="http://schemas.openxmlformats.org/officeDocument/2006/relationships/tags" Target="../tags/tag54.xml"/><Relationship Id="rId15" Type="http://schemas.openxmlformats.org/officeDocument/2006/relationships/tags" Target="../tags/tag55.xml"/><Relationship Id="rId16" Type="http://schemas.openxmlformats.org/officeDocument/2006/relationships/tags" Target="../tags/tag5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tags" Target="../tags/tag58.xml"/><Relationship Id="rId3" Type="http://schemas.openxmlformats.org/officeDocument/2006/relationships/tags" Target="../tags/tag59.xml"/><Relationship Id="rId4" Type="http://schemas.openxmlformats.org/officeDocument/2006/relationships/image" Target="../media/image5.png"/><Relationship Id="rId5" Type="http://schemas.microsoft.com/office/2007/relationships/hdphoto" Target="../media/image6.wdp"/><Relationship Id="rId6" Type="http://schemas.openxmlformats.org/officeDocument/2006/relationships/tags" Target="../tags/tag60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>
            <a:grpSpLocks noChangeAspect="1"/>
          </p:cNvGrpSpPr>
          <p:nvPr/>
        </p:nvGrpSpPr>
        <p:grpSpPr>
          <a:xfrm>
            <a:off x="9505950" y="336023"/>
            <a:ext cx="2325831" cy="699934"/>
            <a:chOff x="2685028" y="2876682"/>
            <a:chExt cx="5502784" cy="1656004"/>
          </a:xfrm>
        </p:grpSpPr>
        <p:sp>
          <p:nvSpPr>
            <p:cNvPr id="75" name="i$ľïdê"/>
            <p:cNvSpPr/>
            <p:nvPr userDrawn="1">
              <p:custDataLst>
                <p:tags r:id="rId1"/>
              </p:custDataLst>
            </p:nvPr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sp>
          <p:nvSpPr>
            <p:cNvPr id="76" name="îṥlîḋê"/>
            <p:cNvSpPr/>
            <p:nvPr userDrawn="1">
              <p:custDataLst>
                <p:tags r:id="rId2"/>
              </p:custDataLst>
            </p:nvPr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pic>
          <p:nvPicPr>
            <p:cNvPr id="77" name="图片 76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09950" y="1905000"/>
            <a:ext cx="8191500" cy="762000"/>
          </a:xfrm>
          <a:prstGeom prst="rect">
            <a:avLst/>
          </a:prstGeom>
          <a:noFill/>
        </p:spPr>
        <p:txBody>
          <a:bodyPr wrap="square" rtlCol="0" lIns="0"/>
          <a:p>
            <a:pPr algn="l"/>
            <a:r>
              <a:rPr lang="zh-CN" altLang="en-US" sz="3600" b="1">
                <a:solidFill>
                  <a:srgbClr val="660874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组会汇报：RecreationWorld</a:t>
            </a:r>
            <a:endParaRPr lang="zh-CN" altLang="en-US" sz="60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09950" y="4000500"/>
            <a:ext cx="9255125" cy="553085"/>
          </a:xfrm>
          <a:prstGeom prst="rect">
            <a:avLst/>
          </a:prstGeom>
          <a:noFill/>
        </p:spPr>
        <p:txBody>
          <a:bodyPr wrap="square" rtlCol="0" lIns="0">
            <a:spAutoFit/>
          </a:bodyPr>
          <a:p>
            <a:r>
              <a:rPr lang="zh-CN" altLang="en-US" sz="3000">
                <a:latin typeface="方正小标宋简体" panose="02000000000000000000" charset="-122"/>
                <a:ea typeface="方正小标宋简体" panose="02000000000000000000" charset="-122"/>
              </a:rPr>
              <a:t>汇报人：周博文  2025213964</a:t>
            </a:r>
            <a:r>
              <a:rPr lang="en-US" altLang="zh-CN" sz="3000">
                <a:latin typeface="方正小标宋简体" panose="02000000000000000000" charset="-122"/>
                <a:ea typeface="方正小标宋简体" panose="02000000000000000000" charset="-122"/>
              </a:rPr>
              <a:t/>
            </a:r>
            <a:r>
              <a:rPr lang="zh-CN" altLang="en-US" sz="3000">
                <a:latin typeface="方正小标宋简体" panose="02000000000000000000" charset="-122"/>
                <a:ea typeface="方正小标宋简体" panose="02000000000000000000" charset="-122"/>
              </a:rPr>
              <a:t/>
            </a:r>
            <a:r>
              <a:rPr lang="en-US" altLang="zh-CN" sz="3000">
                <a:latin typeface="方正小标宋简体" panose="02000000000000000000" charset="-122"/>
                <a:ea typeface="方正小标宋简体" panose="02000000000000000000" charset="-122"/>
              </a:rPr>
              <a:t/>
            </a:r>
            <a:endParaRPr lang="en-US" altLang="zh-CN" sz="30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448050" y="2857500"/>
            <a:ext cx="819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lang="zh-CN">
                <a:solidFill>
                  <a:srgbClr val="6B6570"/>
                </a:solidFill>
                <a:latin typeface="Arial"/>
                <a:ea typeface="微软雅黑"/>
              </a:rPr>
              <a:t>Scalable and Verifiable Environments for Hybrid Computer-Use Agents</a:t>
            </a:r>
          </a:p>
          <a:p>
            <a:pPr algn="l">
              <a:spcAft>
                <a:spcPts val="600"/>
              </a:spcAft>
            </a:pPr>
            <a:r>
              <a:rPr sz="1500" b="0" lang="zh-CN">
                <a:solidFill>
                  <a:srgbClr val="6B6570"/>
                </a:solidFill>
                <a:latin typeface="Arial"/>
                <a:ea typeface="微软雅黑"/>
              </a:rPr>
              <a:t>面向混合计算机操作智能体的可扩展、可验证环境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故事线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一句话：用“应用复刻”同时度量并训练 CLI × GUI 混合能力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8750"/>
            <a:ext cx="3657600" cy="38100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8750"/>
            <a:ext cx="3657600" cy="57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76400"/>
            <a:ext cx="762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660874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38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lang="zh-CN">
                <a:solidFill>
                  <a:srgbClr val="1F1A22"/>
                </a:solidFill>
                <a:latin typeface="Arial"/>
                <a:ea typeface="微软雅黑"/>
              </a:rPr>
              <a:t>任务：应用复刻（Recreation）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14650"/>
            <a:ext cx="3238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给定一个正在运行的参考应用，智能体需通过界面探索其行为，编写代码实现行为一致的复刻版本——单靠点击或单靠写代码都无法完成。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1428750"/>
            <a:ext cx="3657600" cy="38100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200" y="1428750"/>
            <a:ext cx="3657600" cy="5715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1676400"/>
            <a:ext cx="762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1F6F78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286000"/>
            <a:ext cx="3238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lang="zh-CN">
                <a:solidFill>
                  <a:srgbClr val="1F1A22"/>
                </a:solidFill>
                <a:latin typeface="Arial"/>
                <a:ea typeface="微软雅黑"/>
              </a:rPr>
              <a:t>环境与基准：五平台 · 250 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800" y="2914650"/>
            <a:ext cx="3238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Ubuntu / macOS / Windows / Android / Web 可复现环境 + 统一 harness；RecreationBench 250 题，隐藏的程序化 + 视觉断言自动评分。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1428750"/>
            <a:ext cx="3657600" cy="38100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1428750"/>
            <a:ext cx="3657600" cy="571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5800" y="1676400"/>
            <a:ext cx="762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B7791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2286000"/>
            <a:ext cx="3238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lang="zh-CN">
                <a:solidFill>
                  <a:srgbClr val="1F1A22"/>
                </a:solidFill>
                <a:latin typeface="Arial"/>
                <a:ea typeface="微软雅黑"/>
              </a:rPr>
              <a:t>训练：可验证轨迹 → 分布外迁移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2914650"/>
            <a:ext cx="3238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原版应用即 oracle，拒绝采样得到 3.5 万条轨迹做 SFT；两种初始化在 5 个分布外基准上均提升，最高 +17.9 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6388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6388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GPT-6 Astra 在 RecreationBench 上最高 58.1%，但程序化测试全通过的任务仅 2.8%：复刻远未饱和，且天然提供可验证奖励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研究动机：CLI 与 GUI 两条线彼此割裂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现有计算机操作智能体沿两条线发展，各自看不到对方擅长的部分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8750"/>
            <a:ext cx="5334000" cy="12192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8750"/>
            <a:ext cx="47625" cy="12192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54305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6F78"/>
                </a:solidFill>
                <a:latin typeface="Arial"/>
                <a:ea typeface="微软雅黑"/>
              </a:rPr>
              <a:t>GUI 智能体：会操作、不会构建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847850"/>
            <a:ext cx="5048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lang="zh-CN">
                <a:solidFill>
                  <a:srgbClr val="1F1A22"/>
                </a:solidFill>
                <a:latin typeface="Arial"/>
                <a:ea typeface="微软雅黑"/>
              </a:rPr>
              <a:t>截图 + 键鼠操作真实应用，能观察系统如何运行，但很少能构建或修改界面背后的软件（OSWorld 等）。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62250"/>
            <a:ext cx="5334000" cy="12192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62250"/>
            <a:ext cx="47625" cy="121920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" y="287655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660874"/>
                </a:solidFill>
                <a:latin typeface="Arial"/>
                <a:ea typeface="微软雅黑"/>
              </a:rPr>
              <a:t>CLI / Coding 智能体：会构建、看不见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3181350"/>
            <a:ext cx="5048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lang="zh-CN">
                <a:solidFill>
                  <a:srgbClr val="1F1A22"/>
                </a:solidFill>
                <a:latin typeface="Arial"/>
                <a:ea typeface="微软雅黑"/>
              </a:rPr>
              <a:t>写代码、跑命令、调工具，能编写程序，但看不到自己行动产生的界面，缺少视觉反馈来判断结果是否符合预期（SWE-bench 等）。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95750"/>
            <a:ext cx="5334000" cy="14097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95750"/>
            <a:ext cx="47625" cy="14097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" y="421005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B7791F"/>
                </a:solidFill>
                <a:latin typeface="Arial"/>
                <a:ea typeface="微软雅黑"/>
              </a:rPr>
              <a:t>真实工作需要二者交织，而非首尾拼接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4514850"/>
            <a:ext cx="50482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lang="zh-CN">
                <a:solidFill>
                  <a:srgbClr val="1F1A22"/>
                </a:solidFill>
                <a:latin typeface="Arial"/>
                <a:ea typeface="微软雅黑"/>
              </a:rPr>
              <a:t>观察决定实现，运行实现又反过来改变下一步要观察什么 → Hybrid CUA：在同一长程过程中自主决定何时探索、何时实现、何时运行并视觉核验。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9800" y="1428750"/>
            <a:ext cx="5715000" cy="4076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w_fig3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1599208"/>
            <a:ext cx="5486400" cy="34690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19800" y="5219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各基准的轨迹长度与 GUI↔代码编辑切换频率：RecreationBench 二者都最高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6388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6388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现有基准大多只强调一种交互模式，长程、自主的“探索—实现—验证”循环缺少度量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为什么选择“应用复刻”作为任务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Recreation：给定运行中的参考应用，探索其行为并实现一个行为一致的复刻版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8750"/>
            <a:ext cx="1127760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_fig2_recr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07" y="1504950"/>
            <a:ext cx="9302185" cy="22288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3924300"/>
            <a:ext cx="3657600" cy="16192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924300"/>
            <a:ext cx="47625" cy="16192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50" y="403860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660874"/>
                </a:solidFill>
                <a:latin typeface="Arial"/>
                <a:ea typeface="微软雅黑"/>
              </a:rPr>
              <a:t>必须混合（Hybrid by necessity）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4343400"/>
            <a:ext cx="33718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lang="zh-CN">
                <a:solidFill>
                  <a:srgbClr val="1F1A22"/>
                </a:solidFill>
                <a:latin typeface="Arial"/>
                <a:ea typeface="微软雅黑"/>
              </a:rPr>
              <a:t>规格只存在于参考应用的界面里，交付物却是必须编译运行的代码；探索—实现—验证的顺序与频率不被规定。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3924300"/>
            <a:ext cx="3657600" cy="16192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200" y="3924300"/>
            <a:ext cx="47625" cy="161925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8650" y="403860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1F6F78"/>
                </a:solidFill>
                <a:latin typeface="Arial"/>
                <a:ea typeface="微软雅黑"/>
              </a:rPr>
              <a:t>天然可验证（Verifiable）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8650" y="4343400"/>
            <a:ext cx="33718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lang="zh-CN">
                <a:solidFill>
                  <a:srgbClr val="1F1A22"/>
                </a:solidFill>
                <a:latin typeface="Arial"/>
                <a:ea typeface="微软雅黑"/>
              </a:rPr>
              <a:t>运行中的参考应用就是 oracle：可派生隐藏行为测试并回放到任意候选上，得到与实现无关的客观奖励。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3924300"/>
            <a:ext cx="3657600" cy="16192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3924300"/>
            <a:ext cx="47625" cy="16192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8650" y="403860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B7791F"/>
                </a:solidFill>
                <a:latin typeface="Arial"/>
                <a:ea typeface="微软雅黑"/>
              </a:rPr>
              <a:t>可扩展（Scalable）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8650" y="4343400"/>
            <a:ext cx="33718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lang="zh-CN">
                <a:solidFill>
                  <a:srgbClr val="1F1A22"/>
                </a:solidFill>
                <a:latin typeface="Arial"/>
                <a:ea typeface="微软雅黑"/>
              </a:rPr>
              <a:t>开源 GUI 应用源源不断，可转化为开放式的任务与已验证轨迹流，而非固定的人工题集。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复刻把“理解系统需要操作它、改造系统需要写代码”压缩进一个任务，同时自带客观的执行级奖励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RecreationWorld 框架总览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五平台可复现环境 + 统一智能体 harness + 以参考应用为依据的隐藏测试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8750"/>
            <a:ext cx="11277600" cy="428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_fig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80" y="1524000"/>
            <a:ext cx="10538438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753100"/>
            <a:ext cx="11277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左：五平台复刻任务；中：在 5 个分布外基准上的迁移（相对各自首个已评估检查点）；右：五平台程序化与视觉得分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0075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环境：Ubuntu · macOS · Windows · Android · Web；原生 GUI 控制 + 编码工具共用一个执行约定；任务隔离的 worker 在可水平扩展的虚拟机池中调度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RecreationBench：250 个留出任务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每平台 50 题，覆盖不同 UI 框架、构建系统与无障碍 / 自动化栈；参考实现在可能处不公开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8750"/>
            <a:ext cx="3219450" cy="195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_foodtruck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9" y="1485900"/>
            <a:ext cx="2876110" cy="1619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43250"/>
            <a:ext cx="32194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Food Truck（macOS） · 参考应用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0950" y="1428750"/>
            <a:ext cx="3219450" cy="195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w_foodtruck_recre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619" y="1485900"/>
            <a:ext cx="2876110" cy="1619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0950" y="3143250"/>
            <a:ext cx="32194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Food Truck（macOS） · 智能体复刻版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6625"/>
            <a:ext cx="3219450" cy="195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w_qdirstat_refer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69" y="3533775"/>
            <a:ext cx="2876110" cy="1619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191125"/>
            <a:ext cx="32194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QDirStat（Ubuntu） · 参考应用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0950" y="3476625"/>
            <a:ext cx="3219450" cy="195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w_qdirstat_recre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619" y="3533775"/>
            <a:ext cx="2876110" cy="1619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90950" y="5191125"/>
            <a:ext cx="32194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QDirStat（Ubuntu） · 智能体复刻版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9000" y="1428750"/>
            <a:ext cx="4495800" cy="19050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39000" y="1428750"/>
            <a:ext cx="47625" cy="190500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0450" y="1543050"/>
            <a:ext cx="42100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660874"/>
                </a:solidFill>
                <a:latin typeface="Arial"/>
                <a:ea typeface="微软雅黑"/>
              </a:rPr>
              <a:t>评分方式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0450" y="1847850"/>
            <a:ext cx="4210050" cy="140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• 由参考应用自动合成程序化断言 + 视觉断言，先在参考上回放通过、再人工审核后冻结
• 总分 = 程序化得分与 VLM 得分的均值
• 另报告程序化 ≥90% / =100% 的任务比例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9000" y="3476625"/>
            <a:ext cx="4495800" cy="2047875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39000" y="3476625"/>
            <a:ext cx="47625" cy="2047875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0450" y="3590925"/>
            <a:ext cx="42100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6F78"/>
                </a:solidFill>
                <a:latin typeface="Arial"/>
                <a:ea typeface="微软雅黑"/>
              </a:rPr>
              <a:t>防作弊与隔离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0450" y="3895725"/>
            <a:ext cx="4210050" cy="1552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• 各平台网络隔离，禁止运行时检索参考实现
• 统计外网访问、受保护路径、解包参考应用、提权四类违规尝试
• 不限定候选的语言、框架与架构，只评可观察行为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测试同时覆盖“看得见的结构”和“交互后的状态与计算结果”，而非仅清点界面元素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主结果：10 个前沿模型在 RecreationBench 上的表现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平均得分 = 程序化得分与 VLM 得分的均值，五平台等权平均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28750"/>
          <a:ext cx="685800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428750"/>
            <a:ext cx="4191000" cy="12382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428750"/>
            <a:ext cx="47625" cy="12382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5250" y="1543050"/>
            <a:ext cx="3905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zh-CN">
                <a:solidFill>
                  <a:srgbClr val="660874"/>
                </a:solidFill>
                <a:latin typeface="Arial"/>
                <a:ea typeface="微软雅黑"/>
              </a:rPr>
              <a:t>58.1%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0" y="1981200"/>
            <a:ext cx="39052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GPT-6 Astra 总分最高，领先第二名 Claude Opus 5（44.2%）13.9 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781300"/>
            <a:ext cx="4191000" cy="12382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781300"/>
            <a:ext cx="47625" cy="12382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0" y="2895600"/>
            <a:ext cx="3905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zh-CN">
                <a:solidFill>
                  <a:srgbClr val="C0392B"/>
                </a:solidFill>
                <a:latin typeface="Arial"/>
                <a:ea typeface="微软雅黑"/>
              </a:rPr>
              <a:t>仅 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0" y="3333750"/>
            <a:ext cx="39052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即使最强模型，程序化测试 100% 全通过的任务也只有 2.8%（≥90% 为 17.6%）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133850"/>
            <a:ext cx="4191000" cy="13906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133850"/>
            <a:ext cx="47625" cy="139065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5250" y="4248150"/>
            <a:ext cx="3905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lang="zh-CN">
                <a:solidFill>
                  <a:srgbClr val="1F6F78"/>
                </a:solidFill>
                <a:latin typeface="Arial"/>
                <a:ea typeface="微软雅黑"/>
              </a:rPr>
              <a:t>静态结构 &gt; 交互与计算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0" y="4552950"/>
            <a:ext cx="3905250" cy="895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智能体对静态界面结构的还原明显好于交互行为和计算结果；生成的应用比参考应用小得多、更单体化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复刻任务远未饱和：前沿模型能“长得像”，但离“行为一致”还有很大差距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训练：复刻轨迹能否迁移到分布外任务？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Qwen3.8-Max 生成复刻轨迹 → 行为 verifier 拒绝采样 → 3.5 万条 SFT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90650"/>
            <a:ext cx="2724150" cy="10287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90650"/>
            <a:ext cx="47625" cy="102870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504950"/>
            <a:ext cx="2438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660874"/>
                </a:solidFill>
                <a:latin typeface="Arial"/>
                <a:ea typeface="微软雅黑"/>
              </a:rPr>
              <a:t>① 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809750"/>
            <a:ext cx="2438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lang="zh-CN">
                <a:solidFill>
                  <a:srgbClr val="1F1A22"/>
                </a:solidFill>
                <a:latin typeface="Arial"/>
                <a:ea typeface="微软雅黑"/>
              </a:rPr>
              <a:t>GitHub 高质量开源 GUI 应用，覆盖五平台，与评测集去重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5650" y="1390650"/>
            <a:ext cx="2724150" cy="10287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5650" y="1390650"/>
            <a:ext cx="47625" cy="10287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7100" y="1504950"/>
            <a:ext cx="2438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1F6F78"/>
                </a:solidFill>
                <a:latin typeface="Arial"/>
                <a:ea typeface="微软雅黑"/>
              </a:rPr>
              <a:t>② 轨迹生成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7100" y="1809750"/>
            <a:ext cx="2438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lang="zh-CN">
                <a:solidFill>
                  <a:srgbClr val="1F1A22"/>
                </a:solidFill>
                <a:latin typeface="Arial"/>
                <a:ea typeface="微软雅黑"/>
              </a:rPr>
              <a:t>Qwen3.8-Max 在隔离 VM 池中并发执行探索—实现—构建运行—核验修正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4100" y="1390650"/>
            <a:ext cx="2724150" cy="10287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4100" y="1390650"/>
            <a:ext cx="47625" cy="10287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1504950"/>
            <a:ext cx="2438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B7791F"/>
                </a:solidFill>
                <a:latin typeface="Arial"/>
                <a:ea typeface="微软雅黑"/>
              </a:rPr>
              <a:t>③ 拒绝采样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550" y="1809750"/>
            <a:ext cx="2438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lang="zh-CN">
                <a:solidFill>
                  <a:srgbClr val="1F1A22"/>
                </a:solidFill>
                <a:latin typeface="Arial"/>
                <a:ea typeface="微软雅黑"/>
              </a:rPr>
              <a:t>任务级行为 verifier 筛选高分轨迹，每平台 7,000 条，共 3.5 万条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2550" y="1390650"/>
            <a:ext cx="2724150" cy="10287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2550" y="1390650"/>
            <a:ext cx="47625" cy="1028700"/>
          </a:xfrm>
          <a:prstGeom prst="rect">
            <a:avLst/>
          </a:prstGeom>
          <a:solidFill>
            <a:srgbClr val="1E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04950"/>
            <a:ext cx="2438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1E7B5A"/>
                </a:solidFill>
                <a:latin typeface="Arial"/>
                <a:ea typeface="微软雅黑"/>
              </a:rPr>
              <a:t>④ 监督微调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809750"/>
            <a:ext cx="24384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lang="zh-CN">
                <a:solidFill>
                  <a:srgbClr val="1F1A22"/>
                </a:solidFill>
                <a:latin typeface="Arial"/>
                <a:ea typeface="微软雅黑"/>
              </a:rPr>
              <a:t>同一数据分别训练 Qwen3.7-Plus 与 CPT 后的 Qwen-Flash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14600"/>
            <a:ext cx="112776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w_fig5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66" y="2571750"/>
            <a:ext cx="8755467" cy="2762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5353050"/>
            <a:ext cx="11277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lang="zh-CN">
                <a:solidFill>
                  <a:srgbClr val="6B6570"/>
                </a:solidFill>
                <a:latin typeface="Arial"/>
                <a:ea typeface="微软雅黑"/>
              </a:rPr>
              <a:t>代码（ProgramBench、GameCraft）· 视觉代码（Vision2Web）· 混合计算机操作（OSWorld 2.0、WeaveBench）；横轴为归一化训练进程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两种初始化在 5 个分布外基准上均高于首个已评估检查点，最高 +17.9 分；WeaveBench 平均部分得分 35.7 → 48.2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训练后智能体更常检查自己的输出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首个检查点 vs. 最终检查点：两种初始化的平均行为占比（%）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28750"/>
          <a:ext cx="590550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91300" y="1428750"/>
            <a:ext cx="5143500" cy="1285875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91300" y="1428750"/>
            <a:ext cx="47625" cy="12858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2750" y="1543050"/>
            <a:ext cx="4857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zh-CN">
                <a:solidFill>
                  <a:srgbClr val="660874"/>
                </a:solidFill>
                <a:latin typeface="Arial"/>
                <a:ea typeface="微软雅黑"/>
              </a:rPr>
              <a:t>代码验证 20.0 → 24.0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1847850"/>
            <a:ext cx="4857750" cy="790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主要来自“修改代码之后”的验证（18.2 → 22.2），而非修改前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91300" y="2828925"/>
            <a:ext cx="5143500" cy="1285875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91300" y="2828925"/>
            <a:ext cx="47625" cy="1285875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2750" y="2943225"/>
            <a:ext cx="4857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zh-CN">
                <a:solidFill>
                  <a:srgbClr val="1F6F78"/>
                </a:solidFill>
                <a:latin typeface="Arial"/>
                <a:ea typeface="微软雅黑"/>
              </a:rPr>
              <a:t>图像检查 6.8 → 10.1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3248025"/>
            <a:ext cx="4857750" cy="790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既更多查看素材，也更多查看自己渲染的输出（2.9 → 4.7）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1300" y="4229100"/>
            <a:ext cx="5143500" cy="1295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1300" y="4229100"/>
            <a:ext cx="47625" cy="12954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2750" y="4343400"/>
            <a:ext cx="4857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zh-CN">
                <a:solidFill>
                  <a:srgbClr val="B7791F"/>
                </a:solidFill>
                <a:latin typeface="Arial"/>
                <a:ea typeface="微软雅黑"/>
              </a:rPr>
              <a:t>GUI 操作 20.9 → 31.8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648200"/>
            <a:ext cx="48577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zh-CN">
                <a:solidFill>
                  <a:srgbClr val="1F1A22"/>
                </a:solidFill>
                <a:latin typeface="Arial"/>
                <a:ea typeface="微软雅黑"/>
              </a:rPr>
              <a:t>观察（10.2 → 15.1）与交互（10.7 → 16.7）同步增加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复刻训练让智能体更主动地“运行—看结果—再修改”，为自我改进提供了基础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分析一：强模型赢在“探索广度”，所有模型都缺最后一轮验证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四个模型的轨迹统计（五平台等权均值，95% bootstrap 区间）；均为描述性对比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90650"/>
            <a:ext cx="11277600" cy="2762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_fig10_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254" y="1447800"/>
            <a:ext cx="8935491" cy="26479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248150"/>
            <a:ext cx="3657600" cy="1295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248150"/>
            <a:ext cx="47625" cy="129540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50" y="436245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660874"/>
                </a:solidFill>
                <a:latin typeface="Arial"/>
                <a:ea typeface="微软雅黑"/>
              </a:rPr>
              <a:t>探索更广 ↔ 得分更高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4667250"/>
            <a:ext cx="33718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GPT-6 Astra 覆盖 58.1% 的参考端 GUI 交互类型、观察 5.23 个不同窗口；Qwen3.8-Max 为 41.8% / 2.21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248150"/>
            <a:ext cx="3657600" cy="1295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200" y="4248150"/>
            <a:ext cx="47625" cy="12954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8650" y="436245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1F6F78"/>
                </a:solidFill>
                <a:latin typeface="Arial"/>
                <a:ea typeface="微软雅黑"/>
              </a:rPr>
              <a:t>受控输入变化很少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8650" y="4667250"/>
            <a:ext cx="33718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同一输入框尝试两个以上不同值的轨迹仅 13–17%，各模型接近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248150"/>
            <a:ext cx="3657600" cy="1295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4248150"/>
            <a:ext cx="47625" cy="1295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8650" y="436245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C0392B"/>
                </a:solidFill>
                <a:latin typeface="Arial"/>
                <a:ea typeface="微软雅黑"/>
              </a:rPr>
              <a:t>最终闭环普遍缺失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8650" y="4667250"/>
            <a:ext cx="33718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“最后改代码→重启→再观察”完成率最高 47.5%（Qwen3.8-Max），GPT-6 Astra 仅 29.1%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差距主要在“去看了多少”，而交付前的最终核验所有模型都做得不够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分析二：复刻出来的应用“长得像、行为不全”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按测试类别的程序化通过率（Ubuntu / macOS / Windows 三平台示例）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90650"/>
            <a:ext cx="1127760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_fig17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7" y="1447800"/>
            <a:ext cx="10664684" cy="22669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3867150"/>
            <a:ext cx="3657600" cy="1676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867150"/>
            <a:ext cx="47625" cy="167640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50" y="398145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660874"/>
                </a:solidFill>
                <a:latin typeface="Arial"/>
                <a:ea typeface="微软雅黑"/>
              </a:rPr>
              <a:t>结构 &gt; 交互与计算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4286250"/>
            <a:ext cx="3371850" cy="1181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各平台最弱的类别总是按钮、计算或交互，比“结构”低 9.1–34.4 分；Web 上静态内容比交互高 28.2–36.7 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3867150"/>
            <a:ext cx="3657600" cy="1676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200" y="3867150"/>
            <a:ext cx="47625" cy="16764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8650" y="398145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B7791F"/>
                </a:solidFill>
                <a:latin typeface="Arial"/>
                <a:ea typeface="微软雅黑"/>
              </a:rPr>
              <a:t>例：PhotoCollage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8650" y="4286250"/>
            <a:ext cx="3371850" cy="1181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旋转照片后撤销：布局恢复了，但照片仍是旋转状态。首屏看着对、也能启动，只有动作序列才暴露问题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3867150"/>
            <a:ext cx="3657600" cy="16764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3867150"/>
            <a:ext cx="47625" cy="16764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8650" y="3981450"/>
            <a:ext cx="33718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1F6F78"/>
                </a:solidFill>
                <a:latin typeface="Arial"/>
                <a:ea typeface="微软雅黑"/>
              </a:rPr>
              <a:t>代码更小、更单体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8650" y="4286250"/>
            <a:ext cx="3371850" cy="1181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1F1A22"/>
                </a:solidFill>
                <a:latin typeface="Arial"/>
                <a:ea typeface="微软雅黑"/>
              </a:rPr>
              <a:t>复刻版中位文件数 4–43，参考应用 47–167；最大单文件占比 10–64%（参考 5–21%），还常更换 UI 框架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这也是为什么要用“触发—响应”的多深度行为测试，而不是只比截图或清点控件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分析三：把 GUI 操作写成程序，能显著降本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2500"/>
            <a:ext cx="11277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1A22"/>
                </a:solidFill>
                <a:latin typeface="Arial"/>
                <a:ea typeface="微软雅黑"/>
              </a:rPr>
              <a:t>□ Windows 50 个应用、Claude Opus 4.8：逐步 MCP 调用 vs. 持久 REPL + 可编程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90650"/>
            <a:ext cx="5334000" cy="415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_fig9_sd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17" y="1447800"/>
            <a:ext cx="4023165" cy="4038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19800" y="1390650"/>
            <a:ext cx="5715000" cy="12382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19800" y="1390650"/>
            <a:ext cx="47625" cy="1238250"/>
          </a:xfrm>
          <a:prstGeom prst="rect">
            <a:avLst/>
          </a:prstGeom>
          <a:solidFill>
            <a:srgbClr val="1E7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1250" y="1504950"/>
            <a:ext cx="5429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E7B5A"/>
                </a:solidFill>
                <a:latin typeface="Arial"/>
                <a:ea typeface="微软雅黑"/>
              </a:rPr>
              <a:t>质量基本不变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0" y="1809750"/>
            <a:ext cx="542925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程序化 35.05 → 35.60，VLM 31.00 → 32.29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9800" y="2743200"/>
            <a:ext cx="5715000" cy="142875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19800" y="2743200"/>
            <a:ext cx="47625" cy="14287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0" y="2857500"/>
            <a:ext cx="5429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660874"/>
                </a:solidFill>
                <a:latin typeface="Arial"/>
                <a:ea typeface="微软雅黑"/>
              </a:rPr>
              <a:t>开销大幅下降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3162300"/>
            <a:ext cx="5429250" cy="93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计算机操作调用 −39.9%、轮数 −35.8%、输入 token −40.7%、工具返回文本 −65.5%；模型成本 −54.1%（每题 $90.50 → $41.58）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9800" y="4286250"/>
            <a:ext cx="5715000" cy="12573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9800" y="4286250"/>
            <a:ext cx="47625" cy="12573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1250" y="4400550"/>
            <a:ext cx="5429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1F6F78"/>
                </a:solidFill>
                <a:latin typeface="Arial"/>
                <a:ea typeface="微软雅黑"/>
              </a:rPr>
              <a:t>原因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4705350"/>
            <a:ext cx="54292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智能体可以用循环和条件组合多步 GUI 操作，并只把需要的观测放回上下文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76900"/>
            <a:ext cx="11277600" cy="438150"/>
          </a:xfrm>
          <a:prstGeom prst="roundRect">
            <a:avLst>
              <a:gd name="adj" fmla="val 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676900"/>
            <a:ext cx="57150" cy="43815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5676900"/>
            <a:ext cx="10953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lang="zh-CN">
                <a:solidFill>
                  <a:srgbClr val="3A0745"/>
                </a:solidFill>
                <a:latin typeface="Arial"/>
                <a:ea typeface="微软雅黑"/>
              </a:rPr>
              <a:t>混合智能体的 GUI 一侧也可以“代码化”：这是降低长程 GUI 开销的另一条路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228600"/>
            <a:ext cx="9525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lang="zh-CN">
                <a:solidFill>
                  <a:srgbClr val="660874"/>
                </a:solidFill>
                <a:latin typeface="Arial"/>
                <a:ea typeface="微软雅黑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0" y="63627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lang="zh-CN">
                <a:solidFill>
                  <a:srgbClr val="8A849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1277600" cy="9906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150" cy="990600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76350"/>
            <a:ext cx="10763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660874"/>
                </a:solidFill>
                <a:latin typeface="Arial"/>
                <a:ea typeface="微软雅黑"/>
              </a:rPr>
              <a:t>应用复刻是混合能力的天然载体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657350"/>
            <a:ext cx="10763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规格在界面里、交付物是代码、对错要运行后看：单靠点击或单靠写代码都完不成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7900"/>
            <a:ext cx="11277600" cy="9906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7900"/>
            <a:ext cx="57150" cy="9906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381250"/>
            <a:ext cx="10763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1F6F78"/>
                </a:solidFill>
                <a:latin typeface="Arial"/>
                <a:ea typeface="微软雅黑"/>
              </a:rPr>
              <a:t>参考应用即 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762250"/>
            <a:ext cx="10763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自动派生隐藏的程序化 + 视觉测试，先在参考上验证、再人工审核，得到与实现无关的客观奖励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52800"/>
            <a:ext cx="11277600" cy="9906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52800"/>
            <a:ext cx="57150" cy="990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3486150"/>
            <a:ext cx="10763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C0392B"/>
                </a:solidFill>
                <a:latin typeface="Arial"/>
                <a:ea typeface="微软雅黑"/>
              </a:rPr>
              <a:t>基准远未饱和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867150"/>
            <a:ext cx="10763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10 个前沿模型最高 58.1%，全通过仅 2.8%；结构易还原，交互与计算难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57700"/>
            <a:ext cx="11277600" cy="990600"/>
          </a:xfrm>
          <a:prstGeom prst="roundRect">
            <a:avLst>
              <a:gd name="adj" fmla="val 6000"/>
            </a:avLst>
          </a:prstGeom>
          <a:solidFill>
            <a:srgbClr val="FAF8FB"/>
          </a:solidFill>
          <a:ln w="12700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57700"/>
            <a:ext cx="57150" cy="9906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4591050"/>
            <a:ext cx="10763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B7791F"/>
                </a:solidFill>
                <a:latin typeface="Arial"/>
                <a:ea typeface="微软雅黑"/>
              </a:rPr>
              <a:t>复刻训练可迁移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972050"/>
            <a:ext cx="10763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1F1A22"/>
                </a:solidFill>
                <a:latin typeface="Arial"/>
                <a:ea typeface="微软雅黑"/>
              </a:rPr>
              <a:t>3.5 万条拒绝采样轨迹 SFT，5 个分布外基准最高 +17.9 分；训练后更常验证自己的输出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38800"/>
            <a:ext cx="11277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zh-CN">
                <a:solidFill>
                  <a:srgbClr val="6B6570"/>
                </a:solidFill>
                <a:latin typeface="Arial"/>
                <a:ea typeface="微软雅黑"/>
              </a:rPr>
              <a:t>注：迁移提升相对首个已评估检查点而非未训练基座；WeaveBench 35.7 → 48.2 为平均部分得分，与 41.2% 通过率口径不同。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COMMONDATA" val="eyJoZGlkIjoiZjVhNGJiMWVmZTg4ZjFhYWZhYWFiMzBkODkwYWRkZmUifQ=="/>
  <p:tag name="resource_record_key" val="{&quot;10&quot;:[21555167,21545204,21575396,21552757,2155039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演示</Application>
  <PresentationFormat>宽屏</PresentationFormat>
  <Paragraphs>4</Paragraphs>
  <Slides>8</Slides>
  <Notes>10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Arial</vt:lpstr>
      <vt:lpstr>微软雅黑 Light</vt:lpstr>
      <vt:lpstr>方正小标宋简体</vt:lpstr>
      <vt:lpstr>Times New Roman Bold</vt:lpstr>
      <vt:lpstr>Times New Roman</vt:lpstr>
      <vt:lpstr>Noto Sans SC</vt:lpstr>
      <vt:lpstr>Noto Sans SC</vt:lpstr>
      <vt:lpstr>Times New Roman Regular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86189</dc:creator>
  <cp:lastModifiedBy>文</cp:lastModifiedBy>
  <cp:revision>764</cp:revision>
  <dcterms:created xsi:type="dcterms:W3CDTF">2026-03-22T08:21:00Z</dcterms:created>
  <dcterms:modified xsi:type="dcterms:W3CDTF">2026-03-22T08:59:47Z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436FDA4FD1FAADFA3B57116922FA7F82_43</vt:lpwstr>
  </property>
</Properties>
</file>